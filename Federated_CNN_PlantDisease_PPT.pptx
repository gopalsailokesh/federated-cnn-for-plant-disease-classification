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88" y="333279"/>
            <a:ext cx="995237" cy="9952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955" y="333375"/>
            <a:ext cx="716788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lnSpc>
                <a:spcPct val="115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NATIONAL INSTITUTE OF TECHNOLOGY PUDUCHERRY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algn="ctr" defTabSz="685800">
              <a:lnSpc>
                <a:spcPct val="115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  	(An Institution of National Importance under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MoE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, Govt. of India) 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algn="ctr" defTabSz="685800">
              <a:lnSpc>
                <a:spcPct val="115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	KARAIKAL – 609 609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26922" y="2827472"/>
            <a:ext cx="8490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FEDERATED CNN FOR PLANT DISEASE CLASSIFICATION USING RESNET-18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27025" y="4585970"/>
            <a:ext cx="3343275" cy="15259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685800"/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ASHMITAA S </a:t>
            </a: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/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(EE23B1007)  </a:t>
            </a: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/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S G S LOKESH </a:t>
            </a: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/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(EE23B1027)</a:t>
            </a: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6750" y="4586605"/>
            <a:ext cx="2999105" cy="15252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defTabSz="685800"/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M. Venkatesan, Associate Professor </a:t>
            </a: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/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 dirty="0"/>
              <a:t>Plant disease detection is a critical task in precision agriculture — early diagnosis reduces yield losses and pesticide use.</a:t>
            </a:r>
            <a:endParaRPr sz="1800" dirty="0"/>
          </a:p>
          <a:p>
            <a:pPr algn="just"/>
            <a:r>
              <a:rPr sz="1800" dirty="0"/>
              <a:t>Deep learning CNNs excel at image-based plant disease classification, but centralizing training images raises privacy and bandwidth concerns.</a:t>
            </a:r>
            <a:endParaRPr sz="1800" dirty="0"/>
          </a:p>
          <a:p>
            <a:pPr algn="just"/>
            <a:r>
              <a:rPr sz="1800" dirty="0"/>
              <a:t>Federated Learning (FL) allows multiple clients to train a shared global model while keeping data local — clients share only model weight updates, not raw data.</a:t>
            </a:r>
            <a:endParaRPr sz="1800" dirty="0"/>
          </a:p>
          <a:p>
            <a:pPr algn="just"/>
            <a:r>
              <a:rPr sz="1800" dirty="0"/>
              <a:t>This project combines FL with transfer learning on a pre-trained ResNet-18 backbone using the PlantVillage dataset to achieve privacy-preserving plant disease classification.</a:t>
            </a:r>
            <a:endParaRPr sz="1800" dirty="0"/>
          </a:p>
          <a:p>
            <a:pPr algn="just"/>
            <a:r>
              <a:rPr sz="1800" dirty="0"/>
              <a:t>The FedAvg aggregation algorithm combines locally trained weights from 3 simulated clients over 5 communication rounds, achieving 91.37% final test accuracy.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Download and preprocess the PlantVillage RGB dataset — resize to 224×224 px and normalize using ImageNet statistics for ResNet-18 compatibility.</a:t>
            </a:r>
            <a:endParaRPr sz="1800"/>
          </a:p>
          <a:p>
            <a:pPr algn="just"/>
            <a:r>
              <a:rPr sz="1800"/>
              <a:t>Partition training data among 3 simulated federated clients to replicate a distributed, privacy-preserving learning scenario without data sharing.</a:t>
            </a:r>
            <a:endParaRPr sz="1800"/>
          </a:p>
          <a:p>
            <a:pPr algn="just"/>
            <a:r>
              <a:rPr sz="1800"/>
              <a:t>Implement the FedAvg algorithm to aggregate locally trained model weights into a single global model across 5 communication rounds.</a:t>
            </a:r>
            <a:endParaRPr sz="1800"/>
          </a:p>
          <a:p>
            <a:pPr algn="just"/>
            <a:r>
              <a:rPr sz="1800"/>
              <a:t>Evaluate the global model using overall accuracy, top-5 accuracy, per-class accuracy, classification report, and confusion matrix.</a:t>
            </a:r>
            <a:endParaRPr sz="1800"/>
          </a:p>
          <a:p>
            <a:pPr algn="just"/>
            <a:r>
              <a:rPr sz="1800"/>
              <a:t>Visualize the training loss curve and sample predictions to assess model convergence and qualitative performance.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McMahan et al. (2017) introduced FedAvg — a communication-efficient algorithm for training deep networks from decentralized data without sharing raw data.</a:t>
            </a:r>
            <a:endParaRPr sz="1800"/>
          </a:p>
          <a:p>
            <a:pPr algn="just"/>
            <a:r>
              <a:rPr sz="1800"/>
              <a:t>Mohanty et al. (2016) showed CNNs trained on PlantVillage achieve over 99% accuracy under controlled conditions, establishing it as the benchmark dataset for plant disease classification.</a:t>
            </a:r>
            <a:endParaRPr sz="1800"/>
          </a:p>
          <a:p>
            <a:pPr algn="just"/>
            <a:r>
              <a:rPr sz="1800"/>
              <a:t>He et al. (2016) introduced ResNet (Residual Networks) — residual connections enable very deep networks to train effectively. ResNet-18 offers an excellent accuracy-efficiency balance for fine-tuning on domain-specific datasets.</a:t>
            </a:r>
            <a:endParaRPr sz="1800"/>
          </a:p>
          <a:p>
            <a:pPr algn="just"/>
            <a:r>
              <a:rPr sz="1800"/>
              <a:t>Rieke et al. (2020) highlighted FL for privacy-preserving collaborative learning in healthcare — principles directly applicable to agricultural settings where farm data is sensitive.</a:t>
            </a:r>
            <a:endParaRPr sz="1800"/>
          </a:p>
          <a:p>
            <a:pPr algn="just"/>
            <a:r>
              <a:rPr sz="1800"/>
              <a:t>Liu et al. (2020) demonstrated that combining FL with transfer learning significantly improves federated model convergence, especially in non-IID data settings.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160" y="1134110"/>
            <a:ext cx="8284210" cy="54756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64160" y="297180"/>
            <a:ext cx="8510270" cy="1025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Architecture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Data Loading: PlantVillage dataset via KaggleHub, organized with PyTorch ImageFolder. Images resized to 224x224 and normalized with ImageNet statistics.</a:t>
            </a:r>
            <a:endParaRPr sz="1800"/>
          </a:p>
          <a:p>
            <a:pPr algn="just"/>
            <a:r>
              <a:rPr sz="1800"/>
              <a:t>Federated Partitioning: Training set split equally among 3 simulated clients (disjoint, non-overlapping subsets) — horizontal federated learning scenario.</a:t>
            </a:r>
            <a:endParaRPr sz="1800"/>
          </a:p>
          <a:p>
            <a:pPr algn="just"/>
            <a:r>
              <a:rPr sz="1800"/>
              <a:t>Model: Pre-trained ResNet-18 (ImageNet) with frozen convolutional layers. Final FC layer replaced with a new linear layer for 38 plant disease classes.</a:t>
            </a:r>
            <a:endParaRPr sz="1800"/>
          </a:p>
          <a:p>
            <a:pPr algn="just"/>
            <a:r>
              <a:rPr sz="1800"/>
              <a:t>Local Training: Each client trains for 2 epochs using Adam optimizer (lr=0.001) and Cross-Entropy Loss — only the final layer is updated.</a:t>
            </a:r>
            <a:endParaRPr sz="1800"/>
          </a:p>
          <a:p>
            <a:pPr algn="just"/>
            <a:r>
              <a:rPr sz="1800"/>
              <a:t>FedAvg Aggregation: Server collects weights from all clients, computes arithmetic mean, forms new global model, redistributes for next round — repeated for 5 rounds.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PlantVillage Dataset (RGB version) — available on </a:t>
            </a:r>
            <a:r>
              <a:rPr lang="en-IN" sz="1800"/>
              <a:t>Publicly Availabel</a:t>
            </a:r>
            <a:r>
              <a:rPr sz="1800"/>
              <a:t>.</a:t>
            </a:r>
            <a:endParaRPr sz="1800"/>
          </a:p>
          <a:p>
            <a:pPr algn="just"/>
            <a:r>
              <a:rPr sz="1800"/>
              <a:t>~54,000 RGB leaf images across 38 plant disease and healthy categories.</a:t>
            </a:r>
            <a:endParaRPr sz="1800"/>
          </a:p>
          <a:p>
            <a:pPr algn="just"/>
            <a:r>
              <a:rPr sz="1800"/>
              <a:t>Images resized to 224x224 pixels and normalized using ImageNet statistics (mean: [0.485, 0.456, 0.406], std: [0.229, 0.224, 0.225]).</a:t>
            </a:r>
            <a:endParaRPr sz="1800"/>
          </a:p>
          <a:p>
            <a:pPr algn="just"/>
            <a:r>
              <a:rPr sz="1800"/>
              <a:t>Dataset split 80/20 into training and testing subsets using PyTorch random_split.</a:t>
            </a:r>
            <a:endParaRPr sz="1800"/>
          </a:p>
          <a:p>
            <a:pPr algn="just"/>
            <a:r>
              <a:rPr sz="1800"/>
              <a:t>Training data further partitioned equally among 3 simulated federated clients using non-overlapping index ranges.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Programming Language: Python 3.8+</a:t>
            </a:r>
            <a:endParaRPr sz="1800"/>
          </a:p>
          <a:p>
            <a:pPr algn="just"/>
            <a:r>
              <a:rPr sz="1800"/>
              <a:t>Deep Learning Framework: PyTorch 1.12+ with torchvision</a:t>
            </a:r>
            <a:endParaRPr sz="1800"/>
          </a:p>
          <a:p>
            <a:pPr algn="just"/>
            <a:r>
              <a:rPr sz="1800"/>
              <a:t>Libraries: scikit-learn, KaggleHub, seaborn, matplotlib, numpy</a:t>
            </a:r>
            <a:endParaRPr sz="1800"/>
          </a:p>
          <a:p>
            <a:pPr algn="just"/>
            <a:r>
              <a:rPr sz="1800"/>
              <a:t>Model: ResNet-18 pre-trained on ImageNet (via torchvision.models)</a:t>
            </a:r>
            <a:endParaRPr sz="1800"/>
          </a:p>
          <a:p>
            <a:pPr algn="just"/>
            <a:r>
              <a:rPr sz="1800"/>
              <a:t>Environment: Google Colab / Jupyter Notebook / Local Python environment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Step 1: Install KaggleHub and import PyTorch, torchvision, scikit-learn libraries.</a:t>
            </a:r>
            <a:endParaRPr sz="1800"/>
          </a:p>
          <a:p>
            <a:pPr algn="just"/>
            <a:r>
              <a:rPr sz="1800"/>
              <a:t>Step 2: Download PlantVillage dataset; discover 38 disease classes by listing subdirectories.</a:t>
            </a:r>
            <a:endParaRPr sz="1800"/>
          </a:p>
          <a:p>
            <a:pPr algn="just"/>
            <a:r>
              <a:rPr sz="1800"/>
              <a:t>Step 3: Apply image transforms (resize 224x224, normalize) and split dataset 80/20 into train/test.</a:t>
            </a:r>
            <a:endParaRPr sz="1800"/>
          </a:p>
          <a:p>
            <a:pPr algn="just"/>
            <a:r>
              <a:rPr sz="1800"/>
              <a:t>Step 4: Partition training data equally across 3 federated clients using non-overlapping index ranges.</a:t>
            </a:r>
            <a:endParaRPr sz="1800"/>
          </a:p>
          <a:p>
            <a:pPr algn="just"/>
            <a:r>
              <a:rPr sz="1800"/>
              <a:t>Step 5: Load ResNet-18 with frozen conv layers; replace final FC layer for 38 classes.</a:t>
            </a:r>
            <a:endParaRPr sz="1800"/>
          </a:p>
          <a:p>
            <a:pPr algn="just"/>
            <a:r>
              <a:rPr sz="1800"/>
              <a:t>Step 6: Each client trains locally for 2 epochs (Adam, lr=0.001, CrossEntropyLoss).</a:t>
            </a:r>
            <a:endParaRPr sz="1800"/>
          </a:p>
          <a:p>
            <a:pPr algn="just"/>
            <a:r>
              <a:rPr sz="1800"/>
              <a:t>Step 7: Run FedAvg over 5 rounds — aggregate client weights, update global model, redistribute.</a:t>
            </a:r>
            <a:endParaRPr sz="1800"/>
          </a:p>
          <a:p>
            <a:pPr algn="just"/>
            <a:r>
              <a:rPr sz="1800"/>
              <a:t>Step 8: Evaluate global model — compute accuracy, top-5, per-class accuracy, confusion matrix, and visualize sample predictions.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Final Global Model Accuracy: 91.37% on the held-out PlantVillage test set after 5 FedAvg rounds.</a:t>
            </a:r>
            <a:endParaRPr sz="1800"/>
          </a:p>
          <a:p>
            <a:pPr algn="just"/>
            <a:r>
              <a:rPr sz="1800"/>
              <a:t>Top-5 Accuracy: Notably higher than top-1, confirming the correct class consistently appears among the model’s top confident predictions.</a:t>
            </a:r>
            <a:endParaRPr sz="1800"/>
          </a:p>
          <a:p>
            <a:pPr algn="just"/>
            <a:r>
              <a:rPr sz="1800"/>
              <a:t>Per-class accuracy shows strong performance across most of the 38 categories; classes with more training samples achieve higher accuracy.</a:t>
            </a:r>
            <a:endParaRPr sz="1800"/>
          </a:p>
          <a:p>
            <a:pPr algn="just"/>
            <a:r>
              <a:rPr sz="1800"/>
              <a:t>Confusion matrix heatmap reveals classes with similar visual features (overlapping disease patterns) are more prone to misclassification.</a:t>
            </a:r>
            <a:endParaRPr sz="1800"/>
          </a:p>
          <a:p>
            <a:pPr algn="just"/>
            <a:r>
              <a:rPr sz="1800"/>
              <a:t>Sample visualizations of predicted vs. actual class labels confirm the model’s qualitative reliability on individual test images.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</a:t>
            </a:r>
            <a:r>
              <a:rPr lang="en-IN"/>
              <a:t>Results</a:t>
            </a:r>
            <a:endParaRPr lang="en-IN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8610" y="1490345"/>
            <a:ext cx="3345815" cy="29768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035" y="1490345"/>
            <a:ext cx="4474845" cy="2952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710" y="4448175"/>
            <a:ext cx="4693920" cy="2374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Privacy-Preserving: Raw training data never leaves client devices — only model weight updates are shared, preserving data privacy.</a:t>
            </a:r>
            <a:endParaRPr sz="1800"/>
          </a:p>
          <a:p>
            <a:pPr algn="just"/>
            <a:r>
              <a:rPr sz="1800"/>
              <a:t>Reduced Bandwidth: Only model parameters (not full datasets) are transmitted between clients and the central server.</a:t>
            </a:r>
            <a:endParaRPr sz="1800"/>
          </a:p>
          <a:p>
            <a:pPr algn="just"/>
            <a:r>
              <a:rPr sz="1800"/>
              <a:t>Scalable Architecture: The FedAvg framework can scale to more clients without redesigning the aggregation pipeline.</a:t>
            </a:r>
            <a:endParaRPr sz="1800"/>
          </a:p>
          <a:p>
            <a:pPr algn="just"/>
            <a:r>
              <a:rPr sz="1800"/>
              <a:t>Strong Initialization: Transfer learning from ImageNet enables effective training with limited local data and fewer epochs.</a:t>
            </a:r>
            <a:endParaRPr sz="1800"/>
          </a:p>
          <a:p>
            <a:pPr algn="just"/>
            <a:r>
              <a:rPr sz="1800"/>
              <a:t>Comprehensive Evaluation: Overall accuracy, top-5 accuracy, per-class accuracy, confusion matrix and sample visualizations provide thorough model assessment.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Non-IID Data: Simulate non-IID partitioning where clients hold data from only a few crop or disease types, closer to real-world conditions.</a:t>
            </a:r>
            <a:endParaRPr sz="1800"/>
          </a:p>
          <a:p>
            <a:pPr algn="just"/>
            <a:r>
              <a:rPr sz="1800"/>
              <a:t>More Clients: Scale federated clients beyond 3 to test robustness of FedAvg under realistic distributed conditions.</a:t>
            </a:r>
            <a:endParaRPr sz="1800"/>
          </a:p>
          <a:p>
            <a:pPr algn="just"/>
            <a:r>
              <a:rPr sz="1800"/>
              <a:t>Advanced Aggregation: Explore FedProx, SCAFFOLD, or FedNova for better convergence in heterogeneous data settings.</a:t>
            </a:r>
            <a:endParaRPr sz="1800"/>
          </a:p>
          <a:p>
            <a:pPr algn="just"/>
            <a:r>
              <a:rPr sz="1800"/>
              <a:t>Fine-tune More Layers: Gradually unfreeze deeper ResNet layers during federated rounds to further improve accuracy.</a:t>
            </a:r>
            <a:endParaRPr sz="1800"/>
          </a:p>
          <a:p>
            <a:pPr algn="just"/>
            <a:r>
              <a:rPr sz="1800"/>
              <a:t>On-Device Deployment: Compress and deploy the global model on edge devices (Raspberry Pi, mobile) using TensorFlow Lite or ONNX for real-time field diagnosis.</a:t>
            </a:r>
            <a:endParaRPr sz="1800"/>
          </a:p>
          <a:p>
            <a:pPr algn="just"/>
            <a:r>
              <a:rPr sz="1800"/>
              <a:t>Privacy Enhancements: Integrate differential privacy and secure aggregation for formal privacy guarantees beyond basic data locality.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1800"/>
              <a:t>Successfully implemented a Federated Learning pipeline for plant disease classification using ResNet-18 on the PlantVillage RGB dataset.</a:t>
            </a:r>
            <a:endParaRPr sz="1800"/>
          </a:p>
          <a:p>
            <a:pPr algn="just"/>
            <a:r>
              <a:rPr sz="1800"/>
              <a:t>FedAvg effectively aggregates locally trained weights from 3 simulated clients over 5 rounds, producing a robust global model without sharing raw training data.</a:t>
            </a:r>
            <a:endParaRPr sz="1800"/>
          </a:p>
          <a:p>
            <a:pPr algn="just"/>
            <a:r>
              <a:rPr sz="1800"/>
              <a:t>Transfer learning from ImageNet provides strong initialization, compensating for limited local training epochs — achieving 91.37% final test accuracy.</a:t>
            </a:r>
            <a:endParaRPr sz="1800"/>
          </a:p>
          <a:p>
            <a:pPr algn="just"/>
            <a:r>
              <a:rPr sz="1800"/>
              <a:t>Federated learning is demonstrated as a viable, privacy-preserving approach for agricultural image classification at scale.</a:t>
            </a:r>
            <a:endParaRPr sz="1800"/>
          </a:p>
          <a:p>
            <a:pPr marL="0" indent="0" algn="just">
              <a:buNone/>
            </a:pP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60" y="318135"/>
            <a:ext cx="8308340" cy="5808345"/>
          </a:xfrm>
        </p:spPr>
        <p:txBody>
          <a:bodyPr/>
          <a:p>
            <a:pPr marL="0" indent="0">
              <a:buNone/>
            </a:pPr>
            <a:endParaRPr sz="6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sz="6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6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</a:t>
            </a:r>
            <a:r>
              <a:rPr sz="6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Thank You! </a:t>
            </a:r>
            <a:endParaRPr sz="6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sz="6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IN" sz="6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sz="6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Questions Welcome</a:t>
            </a:r>
            <a:endParaRPr lang="en-US" sz="6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7762</Words>
  <Application>WPS Presentation</Application>
  <PresentationFormat>On-screen Show (4:3)</PresentationFormat>
  <Paragraphs>114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Introduction</vt:lpstr>
      <vt:lpstr>Objectives</vt:lpstr>
      <vt:lpstr>Literature Survey</vt:lpstr>
      <vt:lpstr>PowerPoint 演示文稿</vt:lpstr>
      <vt:lpstr>Architecture</vt:lpstr>
      <vt:lpstr>Dataset Used</vt:lpstr>
      <vt:lpstr>Tools &amp; Technologies</vt:lpstr>
      <vt:lpstr>Implementation Steps</vt:lpstr>
      <vt:lpstr>Results</vt:lpstr>
      <vt:lpstr>Accuracy Results</vt:lpstr>
      <vt:lpstr>Advantages</vt:lpstr>
      <vt:lpstr>Future Scope</vt:lpstr>
      <vt:lpstr>Conclusion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Sri gopal sai lokesh Kotipalli</cp:lastModifiedBy>
  <cp:revision>8</cp:revision>
  <dcterms:created xsi:type="dcterms:W3CDTF">2013-01-27T09:14:00Z</dcterms:created>
  <dcterms:modified xsi:type="dcterms:W3CDTF">2026-05-09T17:44:29Z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1646423FC2DB490996D4E7B609DBBBB3_12</vt:lpwstr>
  </property>
</Properties>
</file>